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8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60152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0" b="1">
                <a:solidFill>
                  <a:srgbClr val="E85C0B"/>
                </a:solidFill>
                <a:latin typeface="Century Gothic"/>
              </a:rPr>
              <a:t>Inteligencia de Negocios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3601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 b="0">
                <a:solidFill>
                  <a:srgbClr val="FFFFFF"/>
                </a:solidFill>
                <a:latin typeface="Century Gothic"/>
              </a:rPr>
              <a:t>Clase 1: Evolución, Ecosistema y Diseño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Century Gothic"/>
              </a:rPr>
              <a:t>Docente: Dudbil Olvasada Pabon Riaño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03865"/>
                </a:solidFill>
                <a:latin typeface="Century Gothic"/>
              </a:rPr>
              <a:t>Hoja de Ruta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4552" cy="45720"/>
          </a:xfrm>
          <a:prstGeom prst="rect">
            <a:avLst/>
          </a:prstGeom>
          <a:solidFill>
            <a:srgbClr val="E85C0B"/>
          </a:solidFill>
          <a:ln>
            <a:solidFill>
              <a:srgbClr val="E85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2600" b="1">
                <a:solidFill>
                  <a:srgbClr val="E85C0B"/>
                </a:solidFill>
                <a:latin typeface="Century Gothic"/>
              </a:defRPr>
            </a:pPr>
            <a:r>
              <a:t>1. Acuerdos y Reglas de Clase</a:t>
            </a:r>
          </a:p>
          <a:p>
            <a:pPr>
              <a:spcAft>
                <a:spcPts val="800"/>
              </a:spcAft>
              <a:defRPr sz="2600" b="1">
                <a:solidFill>
                  <a:srgbClr val="E85C0B"/>
                </a:solidFill>
                <a:latin typeface="Century Gothic"/>
              </a:defRPr>
            </a:pPr>
            <a:r>
              <a:t>2. Estrategia EMI (Warm-up en Inglés)</a:t>
            </a:r>
          </a:p>
          <a:p>
            <a:pPr>
              <a:spcAft>
                <a:spcPts val="800"/>
              </a:spcAft>
              <a:defRPr sz="2600" b="1">
                <a:solidFill>
                  <a:srgbClr val="E85C0B"/>
                </a:solidFill>
                <a:latin typeface="Century Gothic"/>
              </a:defRPr>
            </a:pPr>
            <a:r>
              <a:t>3. Ecosistema de Inteligencia de Negocios</a:t>
            </a:r>
          </a:p>
          <a:p>
            <a:pPr>
              <a:spcAft>
                <a:spcPts val="800"/>
              </a:spcAft>
              <a:defRPr sz="2600" b="1">
                <a:solidFill>
                  <a:srgbClr val="E85C0B"/>
                </a:solidFill>
                <a:latin typeface="Century Gothic"/>
              </a:defRPr>
            </a:pPr>
            <a:r>
              <a:t>4. Storytelling with Data (Knaflic)</a:t>
            </a:r>
          </a:p>
          <a:p>
            <a:pPr>
              <a:spcAft>
                <a:spcPts val="800"/>
              </a:spcAft>
              <a:defRPr sz="2600" b="1">
                <a:solidFill>
                  <a:srgbClr val="E85C0B"/>
                </a:solidFill>
                <a:latin typeface="Century Gothic"/>
              </a:defRPr>
            </a:pPr>
            <a:r>
              <a:t>5. Taller Práctico: Pair Programming</a:t>
            </a:r>
          </a:p>
          <a:p>
            <a:pPr>
              <a:spcAft>
                <a:spcPts val="800"/>
              </a:spcAft>
              <a:defRPr sz="2600" b="1">
                <a:solidFill>
                  <a:srgbClr val="E85C0B"/>
                </a:solidFill>
                <a:latin typeface="Century Gothic"/>
              </a:defRPr>
            </a:pPr>
            <a:r>
              <a:t>6. Conclusiones y Bibliografía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03865"/>
                </a:solidFill>
                <a:latin typeface="Century Gothic"/>
              </a:rPr>
              <a:t>Evolución del BI (Línea de Tiempo)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4552" cy="45720"/>
          </a:xfrm>
          <a:prstGeom prst="rect">
            <a:avLst/>
          </a:prstGeom>
          <a:solidFill>
            <a:srgbClr val="E85C0B"/>
          </a:solidFill>
          <a:ln>
            <a:solidFill>
              <a:srgbClr val="E85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2200" b="1">
                <a:solidFill>
                  <a:srgbClr val="003865"/>
                </a:solidFill>
                <a:latin typeface="Century Gothic"/>
              </a:defRPr>
            </a:pPr>
            <a:r>
              <a:t>1980s: Sistemas DSS (Decision Support Systems). Reportes estáticos por IT.</a:t>
            </a:r>
          </a:p>
          <a:p>
            <a:pPr>
              <a:spcAft>
                <a:spcPts val="800"/>
              </a:spcAft>
              <a:defRPr sz="2200" b="1">
                <a:solidFill>
                  <a:srgbClr val="003865"/>
                </a:solidFill>
                <a:latin typeface="Century Gothic"/>
              </a:defRPr>
            </a:pPr>
            <a:r>
              <a:t>1990s: Data Warehousing. Nace OLAP y la Minería de Datos.</a:t>
            </a:r>
          </a:p>
          <a:p>
            <a:pPr>
              <a:spcAft>
                <a:spcPts val="800"/>
              </a:spcAft>
              <a:defRPr sz="2200" b="1">
                <a:solidFill>
                  <a:srgbClr val="003865"/>
                </a:solidFill>
                <a:latin typeface="Century Gothic"/>
              </a:defRPr>
            </a:pPr>
            <a:r>
              <a:t>2000s: BI Tradicional. Dashboards pesados a nivel corporativo.</a:t>
            </a:r>
          </a:p>
          <a:p>
            <a:pPr>
              <a:spcAft>
                <a:spcPts val="800"/>
              </a:spcAft>
              <a:defRPr sz="2200" b="1">
                <a:solidFill>
                  <a:srgbClr val="E85C0B"/>
                </a:solidFill>
                <a:latin typeface="Century Gothic"/>
              </a:defRPr>
            </a:pPr>
            <a:r>
              <a:t>2010s: Self-Service BI (Power BI). Democratización del dato.</a:t>
            </a:r>
          </a:p>
          <a:p>
            <a:pPr>
              <a:spcAft>
                <a:spcPts val="800"/>
              </a:spcAft>
              <a:defRPr sz="2200" b="1">
                <a:solidFill>
                  <a:srgbClr val="E85C0B"/>
                </a:solidFill>
                <a:latin typeface="Century Gothic"/>
              </a:defRPr>
            </a:pPr>
            <a:r>
              <a:t>2020s: Augmented BI. IA Generativa integrada.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03865"/>
                </a:solidFill>
                <a:latin typeface="Century Gothic"/>
              </a:rPr>
              <a:t>Arquitectura Base (ETL y OLAP)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2600" b="1">
                <a:solidFill>
                  <a:srgbClr val="003865"/>
                </a:solidFill>
                <a:latin typeface="Century Gothic"/>
              </a:defRPr>
            </a:pPr>
            <a:r>
              <a:t>Extracción y Transformación:</a:t>
            </a:r>
          </a:p>
          <a:p>
            <a:pPr lvl="1">
              <a:spcAft>
                <a:spcPts val="800"/>
              </a:spcAft>
              <a:defRPr sz="2000" b="0">
                <a:solidFill>
                  <a:srgbClr val="003865"/>
                </a:solidFill>
                <a:latin typeface="Century Gothic"/>
              </a:defRPr>
            </a:pPr>
            <a:r>
              <a:t>El 80% del tiempo de un analista se va en limpiar datos (ETL).</a:t>
            </a:r>
          </a:p>
          <a:p>
            <a:pPr lvl="1">
              <a:spcAft>
                <a:spcPts val="800"/>
              </a:spcAft>
              <a:defRPr sz="2000" b="0">
                <a:solidFill>
                  <a:srgbClr val="003865"/>
                </a:solidFill>
                <a:latin typeface="Century Gothic"/>
              </a:defRPr>
            </a:pPr>
            <a:r>
              <a:t>Sistemas OLTP son para registrar la venta en caja, no para sacar métricas de 5 años.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0" y="1188720"/>
            <a:ext cx="54864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2600" b="1">
                <a:solidFill>
                  <a:srgbClr val="003865"/>
                </a:solidFill>
                <a:latin typeface="Century Gothic"/>
              </a:defRPr>
            </a:pPr>
            <a:r>
              <a:t>Carga y Visualización:</a:t>
            </a:r>
          </a:p>
          <a:p>
            <a:pPr lvl="1">
              <a:spcAft>
                <a:spcPts val="800"/>
              </a:spcAft>
              <a:defRPr sz="2000" b="0">
                <a:solidFill>
                  <a:srgbClr val="003865"/>
                </a:solidFill>
                <a:latin typeface="Century Gothic"/>
              </a:defRPr>
            </a:pPr>
            <a:r>
              <a:t>El Data Warehouse almacena la historia limpia (OLAP).</a:t>
            </a:r>
          </a:p>
          <a:p>
            <a:pPr lvl="1">
              <a:spcAft>
                <a:spcPts val="800"/>
              </a:spcAft>
              <a:defRPr sz="2000" b="0">
                <a:solidFill>
                  <a:srgbClr val="003865"/>
                </a:solidFill>
                <a:latin typeface="Century Gothic"/>
              </a:defRPr>
            </a:pPr>
            <a:r>
              <a:t>Los Dashboards consumen de ese Warehouse.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8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0152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500" b="1">
                <a:solidFill>
                  <a:srgbClr val="E85C0B"/>
                </a:solidFill>
                <a:latin typeface="Century Gothic"/>
              </a:rPr>
              <a:t>Storytelling with Data</a:t>
            </a:r>
          </a:p>
          <a:p>
            <a:pPr algn="ctr"/>
            <a:r>
              <a:rPr sz="4500" b="1">
                <a:solidFill>
                  <a:srgbClr val="E85C0B"/>
                </a:solidFill>
                <a:latin typeface="Century Gothic"/>
              </a:rPr>
              <a:t>No se trata de mostrar números.</a:t>
            </a:r>
          </a:p>
          <a:p>
            <a:pPr algn="ctr"/>
            <a:r>
              <a:rPr sz="4500" b="1">
                <a:solidFill>
                  <a:srgbClr val="E85C0B"/>
                </a:solidFill>
                <a:latin typeface="Century Gothic"/>
              </a:rPr>
              <a:t>Se trata de inspirar acciones.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03865"/>
                </a:solidFill>
                <a:latin typeface="Century Gothic"/>
              </a:rPr>
              <a:t>Pro-Tips de Diseño (Knaflic)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4552" cy="45720"/>
          </a:xfrm>
          <a:prstGeom prst="rect">
            <a:avLst/>
          </a:prstGeom>
          <a:solidFill>
            <a:srgbClr val="E85C0B"/>
          </a:solidFill>
          <a:ln>
            <a:solidFill>
              <a:srgbClr val="E85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2800" b="1">
                <a:solidFill>
                  <a:srgbClr val="E85C0B"/>
                </a:solidFill>
                <a:latin typeface="Century Gothic"/>
              </a:defRPr>
            </a:pPr>
            <a:r>
              <a:t>Decluttering:</a:t>
            </a:r>
          </a:p>
          <a:p>
            <a:pPr lvl="1">
              <a:spcAft>
                <a:spcPts val="800"/>
              </a:spcAft>
              <a:defRPr sz="2400" b="0">
                <a:solidFill>
                  <a:srgbClr val="003865"/>
                </a:solidFill>
                <a:latin typeface="Century Gothic"/>
              </a:defRPr>
            </a:pPr>
            <a:r>
              <a:t>Remueve bordes, ejes redundantes y gridlines.</a:t>
            </a:r>
          </a:p>
          <a:p>
            <a:pPr>
              <a:spcAft>
                <a:spcPts val="800"/>
              </a:spcAft>
              <a:defRPr sz="2800" b="1">
                <a:solidFill>
                  <a:srgbClr val="E85C0B"/>
                </a:solidFill>
                <a:latin typeface="Century Gothic"/>
              </a:defRPr>
            </a:pPr>
            <a:r>
              <a:t>Gestalt:</a:t>
            </a:r>
          </a:p>
          <a:p>
            <a:pPr lvl="1">
              <a:spcAft>
                <a:spcPts val="800"/>
              </a:spcAft>
              <a:defRPr sz="2400" b="0">
                <a:solidFill>
                  <a:srgbClr val="003865"/>
                </a:solidFill>
                <a:latin typeface="Century Gothic"/>
              </a:defRPr>
            </a:pPr>
            <a:r>
              <a:t>El cerebro agrupa objetos por proximidad. Agrupa los KPIs similares.</a:t>
            </a:r>
          </a:p>
          <a:p>
            <a:pPr>
              <a:spcAft>
                <a:spcPts val="800"/>
              </a:spcAft>
              <a:defRPr sz="2800" b="1">
                <a:solidFill>
                  <a:srgbClr val="E85C0B"/>
                </a:solidFill>
                <a:latin typeface="Century Gothic"/>
              </a:defRPr>
            </a:pPr>
            <a:r>
              <a:t>Colores Focales:</a:t>
            </a:r>
          </a:p>
          <a:p>
            <a:pPr lvl="1">
              <a:spcAft>
                <a:spcPts val="800"/>
              </a:spcAft>
              <a:defRPr sz="2400" b="0">
                <a:solidFill>
                  <a:srgbClr val="003865"/>
                </a:solidFill>
                <a:latin typeface="Century Gothic"/>
              </a:defRPr>
            </a:pPr>
            <a:r>
              <a:t>Un solo color llamativo para el hallazgo, el resto en gris o azul oscuro.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500" b="1">
                <a:solidFill>
                  <a:srgbClr val="003865"/>
                </a:solidFill>
                <a:latin typeface="Century Gothic"/>
              </a:rPr>
              <a:t>El Dashboard Minimalista</a:t>
            </a:r>
          </a:p>
        </p:txBody>
      </p:sp>
      <p:pic>
        <p:nvPicPr>
          <p:cNvPr id="3" name="Picture 2" descr="dashboard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45752" cy="94457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0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112745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3600" b="1">
                <a:solidFill>
                  <a:srgbClr val="003865"/>
                </a:solidFill>
                <a:latin typeface="Century Gothic"/>
              </a:rPr>
              <a:t>Conclusiones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1274552" cy="45720"/>
          </a:xfrm>
          <a:prstGeom prst="rect">
            <a:avLst/>
          </a:prstGeom>
          <a:solidFill>
            <a:srgbClr val="E85C0B"/>
          </a:solidFill>
          <a:ln>
            <a:solidFill>
              <a:srgbClr val="E85C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1274552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800"/>
              </a:spcAft>
              <a:defRPr sz="2600" b="1">
                <a:solidFill>
                  <a:srgbClr val="003865"/>
                </a:solidFill>
                <a:latin typeface="Century Gothic"/>
              </a:defRPr>
            </a:pPr>
            <a:r>
              <a:t>El diseño de datos es estrategia organizacional.</a:t>
            </a:r>
          </a:p>
          <a:p>
            <a:pPr>
              <a:spcAft>
                <a:spcPts val="800"/>
              </a:spcAft>
              <a:defRPr sz="2600" b="1">
                <a:solidFill>
                  <a:srgbClr val="003865"/>
                </a:solidFill>
                <a:latin typeface="Century Gothic"/>
              </a:defRPr>
            </a:pPr>
            <a:r>
              <a:t>Si un dashboard no puede leerse en 5 segundos, fracasó.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