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8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01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0" b="1">
                <a:solidFill>
                  <a:srgbClr val="E85C0B"/>
                </a:solidFill>
                <a:latin typeface="Century Gothic"/>
              </a:rPr>
              <a:t>Inteligencia de Negocios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0">
                <a:solidFill>
                  <a:srgbClr val="FFFFFF"/>
                </a:solidFill>
                <a:latin typeface="Century Gothic"/>
              </a:rPr>
              <a:t>Clase 1: Introducción, Evolución y Conceptos Básicos</a:t>
            </a:r>
          </a:p>
          <a:p>
            <a:pPr algn="ctr"/>
            <a:r>
              <a:rPr sz="3000" b="0">
                <a:solidFill>
                  <a:srgbClr val="FFFFFF"/>
                </a:solidFill>
                <a:latin typeface="Century Gothic"/>
              </a:rPr>
              <a:t>Docente: Dudbil Olvasada Pabon Riaño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003865"/>
                </a:solidFill>
                <a:latin typeface="Century Gothic"/>
              </a:rPr>
              <a:t>Agenda de la Sesión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45720"/>
          </a:xfrm>
          <a:prstGeom prst="rect">
            <a:avLst/>
          </a:prstGeom>
          <a:solidFill>
            <a:srgbClr val="E85C0B"/>
          </a:solidFill>
          <a:ln>
            <a:solidFill>
              <a:srgbClr val="E85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800" b="1">
                <a:solidFill>
                  <a:srgbClr val="E85C0B"/>
                </a:solidFill>
                <a:latin typeface="Century Gothic"/>
              </a:defRPr>
            </a:pPr>
            <a:r>
              <a:t>1. Acuerdos y Reglas de Clase</a:t>
            </a:r>
          </a:p>
          <a:p>
            <a:pPr>
              <a:spcAft>
                <a:spcPts val="1000"/>
              </a:spcAft>
              <a:defRPr sz="2800" b="1">
                <a:solidFill>
                  <a:srgbClr val="E85C0B"/>
                </a:solidFill>
                <a:latin typeface="Century Gothic"/>
              </a:defRPr>
            </a:pPr>
            <a:r>
              <a:t>2. Estrategia EMI (Warm-up en Inglés)</a:t>
            </a:r>
          </a:p>
          <a:p>
            <a:pPr>
              <a:spcAft>
                <a:spcPts val="1000"/>
              </a:spcAft>
              <a:defRPr sz="2800" b="1">
                <a:solidFill>
                  <a:srgbClr val="E85C0B"/>
                </a:solidFill>
                <a:latin typeface="Century Gothic"/>
              </a:defRPr>
            </a:pPr>
            <a:r>
              <a:t>3. ¿Qué es Inteligencia de Negocios (BI)?</a:t>
            </a:r>
          </a:p>
          <a:p>
            <a:pPr>
              <a:spcAft>
                <a:spcPts val="1000"/>
              </a:spcAft>
              <a:defRPr sz="2800" b="1">
                <a:solidFill>
                  <a:srgbClr val="E85C0B"/>
                </a:solidFill>
                <a:latin typeface="Century Gothic"/>
              </a:defRPr>
            </a:pPr>
            <a:r>
              <a:t>4. Glosario Técnico y Fundamentos Analíticos</a:t>
            </a:r>
          </a:p>
          <a:p>
            <a:pPr>
              <a:spcAft>
                <a:spcPts val="1000"/>
              </a:spcAft>
              <a:defRPr sz="2800" b="1">
                <a:solidFill>
                  <a:srgbClr val="E85C0B"/>
                </a:solidFill>
                <a:latin typeface="Century Gothic"/>
              </a:defRPr>
            </a:pPr>
            <a:r>
              <a:t>5. Storytelling with Data (Knaflic)</a:t>
            </a:r>
          </a:p>
          <a:p>
            <a:pPr>
              <a:spcAft>
                <a:spcPts val="1000"/>
              </a:spcAft>
              <a:defRPr sz="2800" b="1">
                <a:solidFill>
                  <a:srgbClr val="E85C0B"/>
                </a:solidFill>
                <a:latin typeface="Century Gothic"/>
              </a:defRPr>
            </a:pPr>
            <a:r>
              <a:t>6. Taller Práctico: Pair Programming</a:t>
            </a:r>
          </a:p>
          <a:p>
            <a:pPr>
              <a:spcAft>
                <a:spcPts val="1000"/>
              </a:spcAft>
              <a:defRPr sz="2800" b="1">
                <a:solidFill>
                  <a:srgbClr val="E85C0B"/>
                </a:solidFill>
                <a:latin typeface="Century Gothic"/>
              </a:defRPr>
            </a:pPr>
            <a:r>
              <a:t>7. Conclusiones y Bibliografía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003865"/>
                </a:solidFill>
                <a:latin typeface="Century Gothic"/>
              </a:rPr>
              <a:t>Acuerdos de Clase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45720"/>
          </a:xfrm>
          <a:prstGeom prst="rect">
            <a:avLst/>
          </a:prstGeom>
          <a:solidFill>
            <a:srgbClr val="E85C0B"/>
          </a:solidFill>
          <a:ln>
            <a:solidFill>
              <a:srgbClr val="E85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600" b="1">
                <a:solidFill>
                  <a:srgbClr val="003865"/>
                </a:solidFill>
                <a:latin typeface="Century Gothic"/>
              </a:defRPr>
            </a:pPr>
            <a:r>
              <a:t>Horario Oficial: Viernes de 10:00 AM a 1:00 PM.</a:t>
            </a:r>
          </a:p>
          <a:p>
            <a:pPr lvl="1">
              <a:spcAft>
                <a:spcPts val="1000"/>
              </a:spcAft>
              <a:defRPr sz="2200" b="0">
                <a:solidFill>
                  <a:srgbClr val="003865"/>
                </a:solidFill>
                <a:latin typeface="Century Gothic"/>
              </a:defRPr>
            </a:pPr>
            <a:r>
              <a:t>Puntualidad: Llegar a tiempo garantiza no perder conceptos clave.</a:t>
            </a:r>
          </a:p>
          <a:p>
            <a:pPr lvl="1">
              <a:spcAft>
                <a:spcPts val="1000"/>
              </a:spcAft>
              <a:defRPr sz="2200" b="0">
                <a:solidFill>
                  <a:srgbClr val="003865"/>
                </a:solidFill>
                <a:latin typeface="Century Gothic"/>
              </a:defRPr>
            </a:pPr>
            <a:r>
              <a:t>Descansos Cognitivos: Haremos una pausa a las 11:30 AM para evitar fatiga técnica.</a:t>
            </a:r>
          </a:p>
          <a:p>
            <a:pPr lvl="1">
              <a:spcAft>
                <a:spcPts val="1000"/>
              </a:spcAft>
              <a:defRPr sz="2200" b="0">
                <a:solidFill>
                  <a:srgbClr val="003865"/>
                </a:solidFill>
                <a:latin typeface="Century Gothic"/>
              </a:defRPr>
            </a:pPr>
            <a:r>
              <a:t>Estrategia EMI: 10 a 15 minutos de inmersión en inglés técnico por sesión.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003865"/>
                </a:solidFill>
                <a:latin typeface="Century Gothic"/>
              </a:rPr>
              <a:t>🇬🇧 EMI Strategy: Warm-Up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45720"/>
          </a:xfrm>
          <a:prstGeom prst="rect">
            <a:avLst/>
          </a:prstGeom>
          <a:solidFill>
            <a:srgbClr val="E85C0B"/>
          </a:solidFill>
          <a:ln>
            <a:solidFill>
              <a:srgbClr val="E85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3200" b="1">
                <a:solidFill>
                  <a:srgbClr val="003865"/>
                </a:solidFill>
                <a:latin typeface="Century Gothic"/>
              </a:defRPr>
            </a:pPr>
            <a:r>
              <a:t>Let's activate our English and BI Vocabulary!</a:t>
            </a:r>
          </a:p>
          <a:p>
            <a:br/>
            <a:pPr>
              <a:spcAft>
                <a:spcPts val="1000"/>
              </a:spcAft>
              <a:defRPr sz="2800" b="0">
                <a:solidFill>
                  <a:srgbClr val="003865"/>
                </a:solidFill>
                <a:latin typeface="Century Gothic"/>
              </a:defRPr>
            </a:pPr>
            <a:r>
              <a:t>Actividad Interactiva:</a:t>
            </a:r>
          </a:p>
          <a:p>
            <a:pPr lvl="1">
              <a:spcAft>
                <a:spcPts val="1000"/>
              </a:spcAft>
              <a:defRPr sz="2600" b="1">
                <a:solidFill>
                  <a:srgbClr val="E85C0B"/>
                </a:solidFill>
                <a:latin typeface="Century Gothic"/>
              </a:defRPr>
            </a:pPr>
            <a:r>
              <a:t>Abran el archivo quiz_semana_1.html en sus navegadores.</a:t>
            </a:r>
          </a:p>
          <a:p>
            <a:pPr lvl="1">
              <a:spcAft>
                <a:spcPts val="1000"/>
              </a:spcAft>
              <a:defRPr sz="2200" b="0">
                <a:solidFill>
                  <a:srgbClr val="003865"/>
                </a:solidFill>
                <a:latin typeface="Century Gothic"/>
              </a:defRPr>
            </a:pPr>
            <a:r>
              <a:t>Vamos a emparejar los conceptos (Dashboard, KPI, Data-Driven) con su definición.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003865"/>
                </a:solidFill>
                <a:latin typeface="Century Gothic"/>
              </a:rPr>
              <a:t>¿Qué es la Inteligencia de Negocios?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45720"/>
          </a:xfrm>
          <a:prstGeom prst="rect">
            <a:avLst/>
          </a:prstGeom>
          <a:solidFill>
            <a:srgbClr val="E85C0B"/>
          </a:solidFill>
          <a:ln>
            <a:solidFill>
              <a:srgbClr val="E85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800" b="1">
                <a:solidFill>
                  <a:srgbClr val="003865"/>
                </a:solidFill>
                <a:latin typeface="Century Gothic"/>
              </a:defRPr>
            </a:pPr>
            <a:r>
              <a:t>Definición Institucional (Sharda et al., 2020):</a:t>
            </a:r>
          </a:p>
          <a:p>
            <a:pPr lvl="1">
              <a:spcAft>
                <a:spcPts val="1000"/>
              </a:spcAft>
              <a:defRPr sz="2200" b="0">
                <a:solidFill>
                  <a:srgbClr val="003865"/>
                </a:solidFill>
                <a:latin typeface="Century Gothic"/>
              </a:defRPr>
            </a:pPr>
            <a:r>
              <a:t>Conjunto de estrategias, procesos y tecnologías enfocadas en la creación de conocimiento mediante análisis de datos.</a:t>
            </a:r>
          </a:p>
          <a:p>
            <a:br/>
            <a:pPr>
              <a:spcAft>
                <a:spcPts val="1000"/>
              </a:spcAft>
              <a:defRPr sz="2800" b="1">
                <a:solidFill>
                  <a:srgbClr val="E85C0B"/>
                </a:solidFill>
                <a:latin typeface="Century Gothic"/>
              </a:defRPr>
            </a:pPr>
            <a:r>
              <a:t>El rol de la Analítica:</a:t>
            </a:r>
          </a:p>
          <a:p>
            <a:pPr lvl="1">
              <a:spcAft>
                <a:spcPts val="1000"/>
              </a:spcAft>
              <a:defRPr sz="2200" b="0">
                <a:solidFill>
                  <a:srgbClr val="003865"/>
                </a:solidFill>
                <a:latin typeface="Century Gothic"/>
              </a:defRPr>
            </a:pPr>
            <a:r>
              <a:t>- Descriptiva: ¿Qué sucedió? (Reportes históricos)</a:t>
            </a:r>
          </a:p>
          <a:p>
            <a:pPr lvl="1">
              <a:spcAft>
                <a:spcPts val="1000"/>
              </a:spcAft>
              <a:defRPr sz="2200" b="0">
                <a:solidFill>
                  <a:srgbClr val="003865"/>
                </a:solidFill>
                <a:latin typeface="Century Gothic"/>
              </a:defRPr>
            </a:pPr>
            <a:r>
              <a:t>- Predictiva: ¿Qué pasará? (Modelos predictivos, Machine Learning)</a:t>
            </a:r>
          </a:p>
          <a:p>
            <a:pPr lvl="1">
              <a:spcAft>
                <a:spcPts val="1000"/>
              </a:spcAft>
              <a:defRPr sz="2200" b="0">
                <a:solidFill>
                  <a:srgbClr val="003865"/>
                </a:solidFill>
                <a:latin typeface="Century Gothic"/>
              </a:defRPr>
            </a:pPr>
            <a:r>
              <a:t>- Prescriptiva: ¿Qué debemos hacer? (Optimización, Simulación)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003865"/>
                </a:solidFill>
                <a:latin typeface="Century Gothic"/>
              </a:rPr>
              <a:t>Glosario Técnico de BI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45720"/>
          </a:xfrm>
          <a:prstGeom prst="rect">
            <a:avLst/>
          </a:prstGeom>
          <a:solidFill>
            <a:srgbClr val="E85C0B"/>
          </a:solidFill>
          <a:ln>
            <a:solidFill>
              <a:srgbClr val="E85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600" b="1">
                <a:solidFill>
                  <a:srgbClr val="003865"/>
                </a:solidFill>
                <a:latin typeface="Century Gothic"/>
              </a:defRPr>
            </a:pPr>
            <a:r>
              <a:t>ETL (Extract, Transform, Load):</a:t>
            </a:r>
          </a:p>
          <a:p>
            <a:pPr lvl="1">
              <a:spcAft>
                <a:spcPts val="1000"/>
              </a:spcAft>
              <a:defRPr sz="2000" b="0">
                <a:solidFill>
                  <a:srgbClr val="003865"/>
                </a:solidFill>
                <a:latin typeface="Century Gothic"/>
              </a:defRPr>
            </a:pPr>
            <a:r>
              <a:t>Extraer datos, transformarlos al formato analítico y cargarlos. El 80% del trabajo en BI ocurre aquí.</a:t>
            </a:r>
          </a:p>
          <a:p>
            <a:pPr>
              <a:spcAft>
                <a:spcPts val="1000"/>
              </a:spcAft>
              <a:defRPr sz="2600" b="1">
                <a:solidFill>
                  <a:srgbClr val="003865"/>
                </a:solidFill>
                <a:latin typeface="Century Gothic"/>
              </a:defRPr>
            </a:pPr>
            <a:r>
              <a:t>OLTP vs OLAP:</a:t>
            </a:r>
          </a:p>
          <a:p>
            <a:pPr lvl="1">
              <a:spcAft>
                <a:spcPts val="1000"/>
              </a:spcAft>
              <a:defRPr sz="2000" b="0">
                <a:solidFill>
                  <a:srgbClr val="003865"/>
                </a:solidFill>
                <a:latin typeface="Century Gothic"/>
              </a:defRPr>
            </a:pPr>
            <a:r>
              <a:t>OLTP: Transacciones rápidas diarias (Ej. Caja Registradora). Altamente normalizado.</a:t>
            </a:r>
          </a:p>
          <a:p>
            <a:pPr lvl="1">
              <a:spcAft>
                <a:spcPts val="1000"/>
              </a:spcAft>
              <a:defRPr sz="2000" b="0">
                <a:solidFill>
                  <a:srgbClr val="003865"/>
                </a:solidFill>
                <a:latin typeface="Century Gothic"/>
              </a:defRPr>
            </a:pPr>
            <a:r>
              <a:t>OLAP: Consultas analíticas complejas y agregaciones (Cubo de Datos).</a:t>
            </a:r>
          </a:p>
          <a:p>
            <a:pPr>
              <a:spcAft>
                <a:spcPts val="1000"/>
              </a:spcAft>
              <a:defRPr sz="2600" b="1">
                <a:solidFill>
                  <a:srgbClr val="003865"/>
                </a:solidFill>
                <a:latin typeface="Century Gothic"/>
              </a:defRPr>
            </a:pPr>
            <a:r>
              <a:t>Data Warehouse &amp; Data Mart:</a:t>
            </a:r>
          </a:p>
          <a:p>
            <a:pPr lvl="1">
              <a:spcAft>
                <a:spcPts val="1000"/>
              </a:spcAft>
              <a:defRPr sz="2000" b="0">
                <a:solidFill>
                  <a:srgbClr val="003865"/>
                </a:solidFill>
                <a:latin typeface="Century Gothic"/>
              </a:defRPr>
            </a:pPr>
            <a:r>
              <a:t>Data Warehouse: Repositorio centralizado de datos de toda la corporación.</a:t>
            </a:r>
          </a:p>
          <a:p>
            <a:pPr lvl="1">
              <a:spcAft>
                <a:spcPts val="1000"/>
              </a:spcAft>
              <a:defRPr sz="2000" b="0">
                <a:solidFill>
                  <a:srgbClr val="003865"/>
                </a:solidFill>
                <a:latin typeface="Century Gothic"/>
              </a:defRPr>
            </a:pPr>
            <a:r>
              <a:t>Data Mart: Una subdivisión del Warehouse para un solo departamento (Ej. Finanzas).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003865"/>
                </a:solidFill>
                <a:latin typeface="Century Gothic"/>
              </a:rPr>
              <a:t>Storytelling con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45720"/>
          </a:xfrm>
          <a:prstGeom prst="rect">
            <a:avLst/>
          </a:prstGeom>
          <a:solidFill>
            <a:srgbClr val="E85C0B"/>
          </a:solidFill>
          <a:ln>
            <a:solidFill>
              <a:srgbClr val="E85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800" b="1">
                <a:solidFill>
                  <a:srgbClr val="E85C0B"/>
                </a:solidFill>
                <a:latin typeface="Century Gothic"/>
              </a:defRPr>
            </a:pPr>
            <a:r>
              <a:t>Principios de Diseño Visual (Knaflic, 2015):</a:t>
            </a:r>
          </a:p>
          <a:p>
            <a:pPr>
              <a:spcAft>
                <a:spcPts val="1000"/>
              </a:spcAft>
              <a:defRPr sz="2400" b="1">
                <a:solidFill>
                  <a:srgbClr val="003865"/>
                </a:solidFill>
                <a:latin typeface="Century Gothic"/>
              </a:defRPr>
            </a:pPr>
            <a:r>
              <a:t>1. Eliminar el desorden (Declutter):</a:t>
            </a:r>
          </a:p>
          <a:p>
            <a:pPr lvl="1">
              <a:spcAft>
                <a:spcPts val="1000"/>
              </a:spcAft>
              <a:defRPr sz="2000" b="0">
                <a:solidFill>
                  <a:srgbClr val="003865"/>
                </a:solidFill>
                <a:latin typeface="Century Gothic"/>
              </a:defRPr>
            </a:pPr>
            <a:r>
              <a:t>Elimina bordes de gráficos, gridlines de fondo, colores innecesarios y sombras.</a:t>
            </a:r>
          </a:p>
          <a:p>
            <a:pPr>
              <a:spcAft>
                <a:spcPts val="1000"/>
              </a:spcAft>
              <a:defRPr sz="2400" b="1">
                <a:solidFill>
                  <a:srgbClr val="003865"/>
                </a:solidFill>
                <a:latin typeface="Century Gothic"/>
              </a:defRPr>
            </a:pPr>
            <a:r>
              <a:t>2. Dirigir la Atención (Principios Gestalt):</a:t>
            </a:r>
          </a:p>
          <a:p>
            <a:pPr lvl="1">
              <a:spcAft>
                <a:spcPts val="1000"/>
              </a:spcAft>
              <a:defRPr sz="2000" b="0">
                <a:solidFill>
                  <a:srgbClr val="003865"/>
                </a:solidFill>
                <a:latin typeface="Century Gothic"/>
              </a:defRPr>
            </a:pPr>
            <a:r>
              <a:t>Usa colores vibrantes (naranja) SOLO para los datos clave. El resto en tonos neutros (gris/azul).</a:t>
            </a:r>
          </a:p>
          <a:p>
            <a:pPr>
              <a:spcAft>
                <a:spcPts val="1000"/>
              </a:spcAft>
              <a:defRPr sz="2400" b="1">
                <a:solidFill>
                  <a:srgbClr val="003865"/>
                </a:solidFill>
                <a:latin typeface="Century Gothic"/>
              </a:defRPr>
            </a:pPr>
            <a:r>
              <a:t>3. Evitar el 3D a toda costa:</a:t>
            </a:r>
          </a:p>
          <a:p>
            <a:pPr lvl="1">
              <a:spcAft>
                <a:spcPts val="1000"/>
              </a:spcAft>
              <a:defRPr sz="2000" b="0">
                <a:solidFill>
                  <a:srgbClr val="003865"/>
                </a:solidFill>
                <a:latin typeface="Century Gothic"/>
              </a:defRPr>
            </a:pPr>
            <a:r>
              <a:t>Los gráficos 3D (especialmente Pie Charts) distorsionan la percepción geométrica del cerebro.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500" b="1">
                <a:solidFill>
                  <a:srgbClr val="003865"/>
                </a:solidFill>
                <a:latin typeface="Century Gothic"/>
              </a:rPr>
              <a:t>Simulación: Dashboard de Alto Impacto (Knaflic)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45720"/>
          </a:xfrm>
          <a:prstGeom prst="rect">
            <a:avLst/>
          </a:prstGeom>
          <a:solidFill>
            <a:srgbClr val="E85C0B"/>
          </a:solidFill>
          <a:ln>
            <a:solidFill>
              <a:srgbClr val="E85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shboard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371600"/>
            <a:ext cx="8503920" cy="8503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003865"/>
                </a:solidFill>
                <a:latin typeface="Century Gothic"/>
              </a:rPr>
              <a:t>Taller: Pair Programming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45720"/>
          </a:xfrm>
          <a:prstGeom prst="rect">
            <a:avLst/>
          </a:prstGeom>
          <a:solidFill>
            <a:srgbClr val="E85C0B"/>
          </a:solidFill>
          <a:ln>
            <a:solidFill>
              <a:srgbClr val="E85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3000" b="1">
                <a:solidFill>
                  <a:srgbClr val="E85C0B"/>
                </a:solidFill>
                <a:latin typeface="Century Gothic"/>
              </a:defRPr>
            </a:pPr>
            <a:r>
              <a:t>Análisis Crítico de Dashboards en el Mundo Real</a:t>
            </a:r>
          </a:p>
          <a:p>
            <a:pPr lvl="1">
              <a:spcAft>
                <a:spcPts val="1000"/>
              </a:spcAft>
              <a:defRPr sz="2400" b="0">
                <a:solidFill>
                  <a:srgbClr val="003865"/>
                </a:solidFill>
                <a:latin typeface="Century Gothic"/>
              </a:defRPr>
            </a:pPr>
            <a:r>
              <a:t>1. En parejas, busquen en internet 2 Dashboards (Uno saturado/malo y uno limpio/bueno).</a:t>
            </a:r>
          </a:p>
          <a:p>
            <a:pPr lvl="1">
              <a:spcAft>
                <a:spcPts val="1000"/>
              </a:spcAft>
              <a:defRPr sz="2400" b="0">
                <a:solidFill>
                  <a:srgbClr val="003865"/>
                </a:solidFill>
                <a:latin typeface="Century Gothic"/>
              </a:defRPr>
            </a:pPr>
            <a:r>
              <a:t>2. Analicen qué principios de Gestalt y 'Decluttering' se violan en el malo.</a:t>
            </a:r>
          </a:p>
          <a:p>
            <a:pPr lvl="1">
              <a:spcAft>
                <a:spcPts val="1000"/>
              </a:spcAft>
              <a:defRPr sz="2400" b="0">
                <a:solidFill>
                  <a:srgbClr val="003865"/>
                </a:solidFill>
                <a:latin typeface="Century Gothic"/>
              </a:defRPr>
            </a:pPr>
            <a:r>
              <a:t>3. Analicen la jerarquía visual del Dashboard bueno.</a:t>
            </a:r>
          </a:p>
          <a:p>
            <a:pPr lvl="1">
              <a:spcAft>
                <a:spcPts val="1000"/>
              </a:spcAft>
              <a:defRPr sz="2400" b="0">
                <a:solidFill>
                  <a:srgbClr val="003865"/>
                </a:solidFill>
                <a:latin typeface="Century Gothic"/>
              </a:defRPr>
            </a:pPr>
            <a:r>
              <a:t>4. Redacten un resumen en formato Markdown y súbanlo a su repositorio de GitHub.</a:t>
            </a:r>
          </a:p>
          <a:p>
            <a:pPr lvl="1">
              <a:spcAft>
                <a:spcPts val="1000"/>
              </a:spcAft>
              <a:defRPr sz="2400" b="1">
                <a:solidFill>
                  <a:srgbClr val="003865"/>
                </a:solidFill>
                <a:latin typeface="Century Gothic"/>
              </a:defRPr>
            </a:pPr>
            <a:r>
              <a:t>Nota: Usen LLMNotebook/ChatGPT como asistente crítico para la revisión.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003865"/>
                </a:solidFill>
                <a:latin typeface="Century Gothic"/>
              </a:rPr>
              <a:t>Conclusiones de la Sesión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45720"/>
          </a:xfrm>
          <a:prstGeom prst="rect">
            <a:avLst/>
          </a:prstGeom>
          <a:solidFill>
            <a:srgbClr val="E85C0B"/>
          </a:solidFill>
          <a:ln>
            <a:solidFill>
              <a:srgbClr val="E85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800" b="1">
                <a:solidFill>
                  <a:srgbClr val="003865"/>
                </a:solidFill>
                <a:latin typeface="Century Gothic"/>
              </a:defRPr>
            </a:pPr>
            <a:r>
              <a:t>El BI no es solo tecnología, es una herramienta estratégica:</a:t>
            </a:r>
          </a:p>
          <a:p>
            <a:pPr lvl="1">
              <a:spcAft>
                <a:spcPts val="1000"/>
              </a:spcAft>
              <a:defRPr sz="2400" b="0">
                <a:solidFill>
                  <a:srgbClr val="003865"/>
                </a:solidFill>
                <a:latin typeface="Century Gothic"/>
              </a:defRPr>
            </a:pPr>
            <a:r>
              <a:t>El verdadero valor del BI está en pasar de los datos descriptivos (pasado) a las decisiones prescriptivas (acciones).</a:t>
            </a:r>
          </a:p>
          <a:p>
            <a:pPr>
              <a:spcAft>
                <a:spcPts val="1000"/>
              </a:spcAft>
              <a:defRPr sz="2800" b="1">
                <a:solidFill>
                  <a:srgbClr val="003865"/>
                </a:solidFill>
                <a:latin typeface="Century Gothic"/>
              </a:defRPr>
            </a:pPr>
            <a:r>
              <a:t>El diseño visual importa tanto como el modelo de datos:</a:t>
            </a:r>
          </a:p>
          <a:p>
            <a:pPr lvl="1">
              <a:spcAft>
                <a:spcPts val="1000"/>
              </a:spcAft>
              <a:defRPr sz="2400" b="0">
                <a:solidFill>
                  <a:srgbClr val="003865"/>
                </a:solidFill>
                <a:latin typeface="Century Gothic"/>
              </a:defRPr>
            </a:pPr>
            <a:r>
              <a:t>Un modelo perfecto (Data Warehouse robusto) fracasa si el Dashboard es ilegible (Exceso de Clutter).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003865"/>
                </a:solidFill>
                <a:latin typeface="Century Gothic"/>
              </a:rPr>
              <a:t>Bibliografía y Referencias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45720"/>
          </a:xfrm>
          <a:prstGeom prst="rect">
            <a:avLst/>
          </a:prstGeom>
          <a:solidFill>
            <a:srgbClr val="E85C0B"/>
          </a:solidFill>
          <a:ln>
            <a:solidFill>
              <a:srgbClr val="E85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800" b="1">
                <a:solidFill>
                  <a:srgbClr val="E85C0B"/>
                </a:solidFill>
                <a:latin typeface="Century Gothic"/>
              </a:defRPr>
            </a:pPr>
            <a:r>
              <a:t>Lecturas Obligatorias:</a:t>
            </a:r>
          </a:p>
          <a:p>
            <a:pPr lvl="1">
              <a:spcAft>
                <a:spcPts val="1000"/>
              </a:spcAft>
              <a:defRPr sz="2200" b="0">
                <a:solidFill>
                  <a:srgbClr val="003865"/>
                </a:solidFill>
                <a:latin typeface="Century Gothic"/>
              </a:defRPr>
            </a:pPr>
            <a:r>
              <a:t>1. Sharda, R., Delen, D., &amp; Turban, E. (2020). Business Intelligence, Analytics, and Data Science: A Managerial Perspective (4th Edition). Pearson.</a:t>
            </a:r>
          </a:p>
          <a:p>
            <a:pPr lvl="1">
              <a:spcAft>
                <a:spcPts val="1000"/>
              </a:spcAft>
              <a:defRPr sz="2200" b="0">
                <a:solidFill>
                  <a:srgbClr val="003865"/>
                </a:solidFill>
                <a:latin typeface="Century Gothic"/>
              </a:defRPr>
            </a:pPr>
            <a:r>
              <a:t>2. Knaflic, C. N. (2015). Storytelling with Data: A Data Visualization Guide for Business Professionals. Wiley.</a:t>
            </a:r>
          </a:p>
          <a:p>
            <a:br/>
            <a:pPr>
              <a:spcAft>
                <a:spcPts val="1000"/>
              </a:spcAft>
              <a:defRPr sz="2800" b="1">
                <a:solidFill>
                  <a:srgbClr val="E85C0B"/>
                </a:solidFill>
                <a:latin typeface="Century Gothic"/>
              </a:defRPr>
            </a:pPr>
            <a:r>
              <a:t>Recursos Adicionales:</a:t>
            </a:r>
          </a:p>
          <a:p>
            <a:pPr lvl="1">
              <a:spcAft>
                <a:spcPts val="1000"/>
              </a:spcAft>
              <a:defRPr sz="2200" b="0">
                <a:solidFill>
                  <a:srgbClr val="003865"/>
                </a:solidFill>
                <a:latin typeface="Century Gothic"/>
              </a:defRPr>
            </a:pPr>
            <a:r>
              <a:t>Repositorio del curso: https://github.com/dudbil/Inteligencia-de-negocios-UNAB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