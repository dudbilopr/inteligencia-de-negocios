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E85C0B"/>
                </a:solidFill>
                <a:latin typeface="Century Gothic"/>
              </a:rPr>
              <a:t>Inteligencia de Negocios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entury Gothic"/>
              </a:rPr>
              <a:t>Clase 1: Introducción, Evolución y Conceptos Básicos</a:t>
            </a:r>
          </a:p>
          <a:p>
            <a:pPr algn="ctr"/>
            <a:r>
              <a:rPr sz="3000" b="0">
                <a:solidFill>
                  <a:srgbClr val="FFFFFF"/>
                </a:solidFill>
                <a:latin typeface="Century Gothic"/>
              </a:rPr>
              <a:t>Docente: Dudbil Olvasada Pabon Riaño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Acuerdos de Clase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003865"/>
                </a:solidFill>
                <a:latin typeface="Century Gothic"/>
              </a:defRPr>
            </a:pPr>
            <a:r>
              <a:t>Horario Oficial: Viernes de 10:00 AM a 1:00 PM.</a:t>
            </a:r>
          </a:p>
          <a:p>
            <a:pPr lvl="1">
              <a:defRPr sz="2400" b="0">
                <a:solidFill>
                  <a:srgbClr val="003865"/>
                </a:solidFill>
                <a:latin typeface="Century Gothic"/>
              </a:defRPr>
            </a:pPr>
            <a:r>
              <a:t>Puntualidad: Llegar a tiempo garantiza no perder conceptos clave.</a:t>
            </a:r>
          </a:p>
          <a:p>
            <a:pPr lvl="1">
              <a:defRPr sz="2400" b="0">
                <a:solidFill>
                  <a:srgbClr val="003865"/>
                </a:solidFill>
                <a:latin typeface="Century Gothic"/>
              </a:defRPr>
            </a:pPr>
            <a:r>
              <a:t>Descansos Cognitivos: Haremos una pausa a las 11:30 AM.</a:t>
            </a:r>
          </a:p>
          <a:p>
            <a:pPr lvl="1">
              <a:defRPr sz="2400" b="0">
                <a:solidFill>
                  <a:srgbClr val="003865"/>
                </a:solidFill>
                <a:latin typeface="Century Gothic"/>
              </a:defRPr>
            </a:pPr>
            <a:r>
              <a:t>Estrategia EMI: 10 minutos de inmersión en inglés por sesión.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🇬🇧 EMI Strategy: Warm-Up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003865"/>
                </a:solidFill>
                <a:latin typeface="Century Gothic"/>
              </a:defRPr>
            </a:pPr>
            <a:r>
              <a:t>Let's activate our English and BI Vocabulary!</a:t>
            </a:r>
          </a:p>
          <a:p>
            <a:br/>
            <a:pPr>
              <a:defRPr sz="3200" b="0">
                <a:solidFill>
                  <a:srgbClr val="003865"/>
                </a:solidFill>
                <a:latin typeface="Century Gothic"/>
              </a:defRPr>
            </a:pPr>
            <a:r>
              <a:t>Actividad Interactiva:</a:t>
            </a:r>
          </a:p>
          <a:p>
            <a:pPr lvl="1">
              <a:defRPr sz="3000" b="1">
                <a:solidFill>
                  <a:srgbClr val="E85C0B"/>
                </a:solidFill>
                <a:latin typeface="Century Gothic"/>
              </a:defRPr>
            </a:pPr>
            <a:r>
              <a:t>Abran el archivo quiz_semana_1.html en sus navegadores.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Vamos a emparejar los conceptos (Dashboard, KPI, Data-Driven) con su definición.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¿Qué es la Inteligencia de Negocios?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003865"/>
                </a:solidFill>
                <a:latin typeface="Century Gothic"/>
              </a:defRPr>
            </a:pPr>
            <a:r>
              <a:t>Definición (Sharda et al., 2020):</a:t>
            </a:r>
          </a:p>
          <a:p>
            <a:pPr lvl="1">
              <a:defRPr sz="2800" b="0">
                <a:solidFill>
                  <a:srgbClr val="003865"/>
                </a:solidFill>
                <a:latin typeface="Century Gothic"/>
              </a:defRPr>
            </a:pPr>
            <a:r>
              <a:t>Conjunto de estrategias, procesos y tecnologías enfocadas en la creación de conocimiento mediante análisis de datos.</a:t>
            </a:r>
          </a:p>
          <a:p>
            <a:pPr>
              <a:defRPr sz="3200" b="1">
                <a:solidFill>
                  <a:srgbClr val="E85C0B"/>
                </a:solidFill>
                <a:latin typeface="Century Gothic"/>
              </a:defRPr>
            </a:pPr>
            <a:r>
              <a:t>El rol de la Analítica:</a:t>
            </a:r>
          </a:p>
          <a:p>
            <a:pPr lvl="1">
              <a:defRPr sz="2800" b="0">
                <a:solidFill>
                  <a:srgbClr val="003865"/>
                </a:solidFill>
                <a:latin typeface="Century Gothic"/>
              </a:defRPr>
            </a:pPr>
            <a:r>
              <a:t>- Descriptiva: ¿Qué sucedió? (Reportes históricos)</a:t>
            </a:r>
          </a:p>
          <a:p>
            <a:pPr lvl="1">
              <a:defRPr sz="2800" b="0">
                <a:solidFill>
                  <a:srgbClr val="003865"/>
                </a:solidFill>
                <a:latin typeface="Century Gothic"/>
              </a:defRPr>
            </a:pPr>
            <a:r>
              <a:t>- Predictiva: ¿Qué pasará? (Pronósticos, ML)</a:t>
            </a:r>
          </a:p>
          <a:p>
            <a:pPr lvl="1">
              <a:defRPr sz="2800" b="0">
                <a:solidFill>
                  <a:srgbClr val="003865"/>
                </a:solidFill>
                <a:latin typeface="Century Gothic"/>
              </a:defRPr>
            </a:pPr>
            <a:r>
              <a:t>- Prescriptiva: ¿Qué debemos hacer? (Optimización)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Glosario Técnico de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 b="1">
                <a:solidFill>
                  <a:srgbClr val="003865"/>
                </a:solidFill>
                <a:latin typeface="Century Gothic"/>
              </a:defRPr>
            </a:pPr>
            <a:r>
              <a:t>ETL (Extract, Transform, Load):</a:t>
            </a:r>
          </a:p>
          <a:p>
            <a:pPr lvl="1">
              <a:defRPr sz="2200" b="0">
                <a:solidFill>
                  <a:srgbClr val="003865"/>
                </a:solidFill>
                <a:latin typeface="Century Gothic"/>
              </a:defRPr>
            </a:pPr>
            <a:r>
              <a:t>Extraer datos, transformarlos al formato analítico y cargarlos.</a:t>
            </a:r>
          </a:p>
          <a:p>
            <a:pPr>
              <a:defRPr sz="2600" b="1">
                <a:solidFill>
                  <a:srgbClr val="003865"/>
                </a:solidFill>
                <a:latin typeface="Century Gothic"/>
              </a:defRPr>
            </a:pPr>
            <a:r>
              <a:t>OLTP vs OLAP:</a:t>
            </a:r>
          </a:p>
          <a:p>
            <a:pPr lvl="1">
              <a:defRPr sz="2200" b="0">
                <a:solidFill>
                  <a:srgbClr val="003865"/>
                </a:solidFill>
                <a:latin typeface="Century Gothic"/>
              </a:defRPr>
            </a:pPr>
            <a:r>
              <a:t>OLTP: Transacciones rápidas diarias (Ej. Caja Registradora).</a:t>
            </a:r>
          </a:p>
          <a:p>
            <a:pPr lvl="1">
              <a:defRPr sz="2200" b="0">
                <a:solidFill>
                  <a:srgbClr val="003865"/>
                </a:solidFill>
                <a:latin typeface="Century Gothic"/>
              </a:defRPr>
            </a:pPr>
            <a:r>
              <a:t>OLAP: Consultas analíticas multidimensionales (Cubo de Datos).</a:t>
            </a:r>
          </a:p>
          <a:p>
            <a:pPr>
              <a:defRPr sz="2600" b="1">
                <a:solidFill>
                  <a:srgbClr val="003865"/>
                </a:solidFill>
                <a:latin typeface="Century Gothic"/>
              </a:defRPr>
            </a:pPr>
            <a:r>
              <a:t>Data Warehouse &amp; Data Mart:</a:t>
            </a:r>
          </a:p>
          <a:p>
            <a:pPr lvl="1">
              <a:defRPr sz="2200" b="0">
                <a:solidFill>
                  <a:srgbClr val="003865"/>
                </a:solidFill>
                <a:latin typeface="Century Gothic"/>
              </a:defRPr>
            </a:pPr>
            <a:r>
              <a:t>Repositorio centralizado de datos (Warehouse) y sus subdivisiones por área (Marts).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Storytelling con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E85C0B"/>
                </a:solidFill>
                <a:latin typeface="Century Gothic"/>
              </a:defRPr>
            </a:pPr>
            <a:r>
              <a:t>Principios de Diseño Visual (Knaflic, 2015):</a:t>
            </a:r>
          </a:p>
          <a:p>
            <a:pPr>
              <a:defRPr sz="2800" b="1">
                <a:solidFill>
                  <a:srgbClr val="003865"/>
                </a:solidFill>
                <a:latin typeface="Century Gothic"/>
              </a:defRPr>
            </a:pPr>
            <a:r>
              <a:t>1. Eliminar el desorden (Declutter):</a:t>
            </a:r>
          </a:p>
          <a:p>
            <a:pPr lvl="1">
              <a:defRPr sz="2400" b="0">
                <a:solidFill>
                  <a:srgbClr val="003865"/>
                </a:solidFill>
                <a:latin typeface="Century Gothic"/>
              </a:defRPr>
            </a:pPr>
            <a:r>
              <a:t>Quita bordes, gridlines y fondos que no sumen información.</a:t>
            </a:r>
          </a:p>
          <a:p>
            <a:pPr>
              <a:defRPr sz="2800" b="1">
                <a:solidFill>
                  <a:srgbClr val="003865"/>
                </a:solidFill>
                <a:latin typeface="Century Gothic"/>
              </a:defRPr>
            </a:pPr>
            <a:r>
              <a:t>2. Dirigir la Atención:</a:t>
            </a:r>
          </a:p>
          <a:p>
            <a:pPr lvl="1">
              <a:defRPr sz="2400" b="0">
                <a:solidFill>
                  <a:srgbClr val="003865"/>
                </a:solidFill>
                <a:latin typeface="Century Gothic"/>
              </a:defRPr>
            </a:pPr>
            <a:r>
              <a:t>Usa colores vibrantes (naranja) SOLO para los datos clave. El resto en tonos neutros (gris/azul).</a:t>
            </a:r>
          </a:p>
          <a:p>
            <a:pPr>
              <a:defRPr sz="2800" b="1">
                <a:solidFill>
                  <a:srgbClr val="003865"/>
                </a:solidFill>
                <a:latin typeface="Century Gothic"/>
              </a:defRPr>
            </a:pPr>
            <a:r>
              <a:t>3. Evitar el 3D:</a:t>
            </a:r>
          </a:p>
          <a:p>
            <a:pPr lvl="1">
              <a:defRPr sz="2400" b="0">
                <a:solidFill>
                  <a:srgbClr val="003865"/>
                </a:solidFill>
                <a:latin typeface="Century Gothic"/>
              </a:defRPr>
            </a:pPr>
            <a:r>
              <a:t>Los gráficos 3D (especialmente Pie Charts) distorsionan las proporciones reales.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Ejemplo Práctico: Dashboards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003865"/>
                </a:solidFill>
                <a:latin typeface="Century Gothic"/>
              </a:defRPr>
            </a:pPr>
            <a:r>
              <a:t>¿Qué hace a un Dashboard excelente?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Jerarquía visual: Lo más importante (KPIs globales) va arriba a la izquierda.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Ley de Proximidad (Gestalt): Gráficos de un mismo tema deben agruparse espacialmente.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Menos es más: Un gerente tiene 5 segundos para entender si la empresa va bien o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500" b="1">
                <a:solidFill>
                  <a:srgbClr val="003865"/>
                </a:solidFill>
                <a:latin typeface="Century Gothic"/>
              </a:rPr>
              <a:t>Taller: Pair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74552" cy="45720"/>
          </a:xfrm>
          <a:prstGeom prst="rect">
            <a:avLst/>
          </a:prstGeom>
          <a:solidFill>
            <a:srgbClr val="E85C0B"/>
          </a:solidFill>
          <a:ln>
            <a:solidFill>
              <a:srgbClr val="E85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 b="1">
                <a:solidFill>
                  <a:srgbClr val="E85C0B"/>
                </a:solidFill>
                <a:latin typeface="Century Gothic"/>
              </a:defRPr>
            </a:pPr>
            <a:r>
              <a:t>Análisis Crítico de Dashboards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1. Busquen en internet 2 Dashboards de Ventas (Uno saturado y uno limpio).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2. Analicen qué principios de Gestalt y 'Decluttering' se violan en el malo.</a:t>
            </a:r>
          </a:p>
          <a:p>
            <a:pPr lvl="1">
              <a:defRPr sz="2600" b="0">
                <a:solidFill>
                  <a:srgbClr val="003865"/>
                </a:solidFill>
                <a:latin typeface="Century Gothic"/>
              </a:defRPr>
            </a:pPr>
            <a:r>
              <a:t>3. Redacten un resumen en formato Markdown y súbanlo a GitHub.</a:t>
            </a:r>
          </a:p>
          <a:p>
            <a:pPr lvl="1">
              <a:defRPr sz="2600" b="1">
                <a:solidFill>
                  <a:srgbClr val="003865"/>
                </a:solidFill>
                <a:latin typeface="Century Gothic"/>
              </a:defRPr>
            </a:pPr>
            <a:r>
              <a:t>Usen LLMNotebook como asistente crítico para esta evaluación.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