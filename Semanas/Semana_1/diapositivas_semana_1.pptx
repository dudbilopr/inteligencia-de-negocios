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8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01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0" b="1">
                <a:solidFill>
                  <a:srgbClr val="E85C0B"/>
                </a:solidFill>
                <a:latin typeface="Century Gothic"/>
              </a:rPr>
              <a:t>Inteligencia de Negocios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0">
                <a:solidFill>
                  <a:srgbClr val="FFFFFF"/>
                </a:solidFill>
                <a:latin typeface="Century Gothic"/>
              </a:rPr>
              <a:t>Clase 1: Introducción, Evolución y Conceptos Básicos</a:t>
            </a:r>
          </a:p>
          <a:p>
            <a:pPr algn="ctr"/>
            <a:r>
              <a:rPr sz="3000" b="0">
                <a:solidFill>
                  <a:srgbClr val="FFFFFF"/>
                </a:solidFill>
                <a:latin typeface="Century Gothic"/>
              </a:rPr>
              <a:t>Docente: Dudbil Olvasada Pabon Riaño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500" b="1">
                <a:solidFill>
                  <a:srgbClr val="003865"/>
                </a:solidFill>
                <a:latin typeface="Century Gothic"/>
              </a:rPr>
              <a:t>Acuerdos de Clase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800" b="1">
                <a:solidFill>
                  <a:srgbClr val="003865"/>
                </a:solidFill>
                <a:latin typeface="Century Gothic"/>
              </a:defRPr>
            </a:pPr>
            <a:r>
              <a:t>Para un ambiente de aprendizaje seguro y productivo:</a:t>
            </a:r>
          </a:p>
          <a:p>
            <a:pPr lvl="1"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Puntualidad: Iniciamos a las 7:00 AM en punto.</a:t>
            </a:r>
          </a:p>
          <a:p>
            <a:pPr lvl="1"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Descansos Cognitivos: Haremos una pausa para evitar fatiga.</a:t>
            </a:r>
          </a:p>
          <a:p>
            <a:pPr lvl="1"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Estrategia EMI: Inmersiones cortas en inglés para fortalecer vocabulario.</a:t>
            </a:r>
          </a:p>
          <a:p>
            <a:pPr lvl="1"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Uso de IA: Usaremos LLMNotebook como copiloto ético.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500" b="1">
                <a:solidFill>
                  <a:srgbClr val="003865"/>
                </a:solidFill>
                <a:latin typeface="Century Gothic"/>
              </a:rPr>
              <a:t>🇬🇧 EMI Strategy: Warm-Up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3600" b="1">
                <a:solidFill>
                  <a:srgbClr val="003865"/>
                </a:solidFill>
                <a:latin typeface="Century Gothic"/>
              </a:defRPr>
            </a:pPr>
            <a:r>
              <a:t>Let's activate our English and BI Vocabulary!</a:t>
            </a:r>
          </a:p>
          <a:p>
            <a:br/>
            <a:pPr>
              <a:defRPr sz="3200" b="0">
                <a:solidFill>
                  <a:srgbClr val="003865"/>
                </a:solidFill>
                <a:latin typeface="Century Gothic"/>
              </a:defRPr>
            </a:pPr>
            <a:r>
              <a:t>Actividad Interactiva:</a:t>
            </a:r>
          </a:p>
          <a:p>
            <a:pPr lvl="1">
              <a:defRPr sz="3000" b="1">
                <a:solidFill>
                  <a:srgbClr val="E85C0B"/>
                </a:solidFill>
                <a:latin typeface="Century Gothic"/>
              </a:defRPr>
            </a:pPr>
            <a:r>
              <a:t>Abran el archivo quiz_semana_1.html en sus navegadores.</a:t>
            </a:r>
          </a:p>
          <a:p>
            <a:pPr lvl="1">
              <a:defRPr sz="2600" b="0">
                <a:solidFill>
                  <a:srgbClr val="003865"/>
                </a:solidFill>
                <a:latin typeface="Century Gothic"/>
              </a:defRPr>
            </a:pPr>
            <a:r>
              <a:t>Vamos a emparejar los conceptos (Dashboard, KPI, Data-Driven) con su definición.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500" b="1">
                <a:solidFill>
                  <a:srgbClr val="003865"/>
                </a:solidFill>
                <a:latin typeface="Century Gothic"/>
              </a:rPr>
              <a:t>¿Qué es la Inteligencia de Negocios?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3200" b="1">
                <a:solidFill>
                  <a:srgbClr val="003865"/>
                </a:solidFill>
                <a:latin typeface="Century Gothic"/>
              </a:defRPr>
            </a:pPr>
            <a:r>
              <a:t>Definición:</a:t>
            </a:r>
          </a:p>
          <a:p>
            <a:pPr lvl="1">
              <a:defRPr sz="2800" b="0">
                <a:solidFill>
                  <a:srgbClr val="003865"/>
                </a:solidFill>
                <a:latin typeface="Century Gothic"/>
              </a:defRPr>
            </a:pPr>
            <a:r>
              <a:t>Es un conjunto de estrategias, procesos, aplicaciones, datos y tecnologías enfocadas en la administración y creación de conocimiento.</a:t>
            </a:r>
          </a:p>
          <a:p>
            <a:br/>
            <a:pPr>
              <a:defRPr sz="3200" b="1">
                <a:solidFill>
                  <a:srgbClr val="E85C0B"/>
                </a:solidFill>
                <a:latin typeface="Century Gothic"/>
              </a:defRPr>
            </a:pPr>
            <a:r>
              <a:t>Objetivo Principal:</a:t>
            </a:r>
          </a:p>
          <a:p>
            <a:pPr lvl="1">
              <a:defRPr sz="2800" b="0">
                <a:solidFill>
                  <a:srgbClr val="003865"/>
                </a:solidFill>
                <a:latin typeface="Century Gothic"/>
              </a:defRPr>
            </a:pPr>
            <a:r>
              <a:t>Convertir datos crudos en información accionable para la toma de decisiones.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500" b="1">
                <a:solidFill>
                  <a:srgbClr val="003865"/>
                </a:solidFill>
                <a:latin typeface="Century Gothic"/>
              </a:rPr>
              <a:t>Evolución del BI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800" b="1">
                <a:solidFill>
                  <a:srgbClr val="003865"/>
                </a:solidFill>
                <a:latin typeface="Century Gothic"/>
              </a:defRPr>
            </a:pPr>
            <a:r>
              <a:t>BI Tradicional (1.0):</a:t>
            </a:r>
          </a:p>
          <a:p>
            <a:pPr lvl="1"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Generación de reportes estáticos por el departamento de TI.</a:t>
            </a:r>
          </a:p>
          <a:p>
            <a:br/>
            <a:pPr>
              <a:defRPr sz="2800" b="1">
                <a:solidFill>
                  <a:srgbClr val="003865"/>
                </a:solidFill>
                <a:latin typeface="Century Gothic"/>
              </a:defRPr>
            </a:pPr>
            <a:r>
              <a:t>Self-Service BI (2.0):</a:t>
            </a:r>
          </a:p>
          <a:p>
            <a:pPr lvl="1"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Analistas explorando datos con herramientas como Power BI / Tableau.</a:t>
            </a:r>
          </a:p>
          <a:p>
            <a:br/>
            <a:pPr>
              <a:defRPr sz="2800" b="1">
                <a:solidFill>
                  <a:srgbClr val="003865"/>
                </a:solidFill>
                <a:latin typeface="Century Gothic"/>
              </a:defRPr>
            </a:pPr>
            <a:r>
              <a:t>Augmented BI (3.0):</a:t>
            </a:r>
          </a:p>
          <a:p>
            <a:pPr lvl="1"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Integración de Machine Learning y NLP para descubrir insights automáticamente.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500" b="1">
                <a:solidFill>
                  <a:srgbClr val="003865"/>
                </a:solidFill>
                <a:latin typeface="Century Gothic"/>
              </a:rPr>
              <a:t>Storytelling con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3200" b="1">
                <a:solidFill>
                  <a:srgbClr val="003865"/>
                </a:solidFill>
                <a:latin typeface="Century Gothic"/>
              </a:defRPr>
            </a:pPr>
            <a:r>
              <a:t>El poder de una buena historia (Knaflic, 2015):</a:t>
            </a:r>
          </a:p>
          <a:p>
            <a:pPr lvl="1">
              <a:defRPr sz="2800" b="0">
                <a:solidFill>
                  <a:srgbClr val="003865"/>
                </a:solidFill>
                <a:latin typeface="Century Gothic"/>
              </a:defRPr>
            </a:pPr>
            <a:r>
              <a:t>No basta con tener datos; hay que saber comunicarlos.</a:t>
            </a:r>
          </a:p>
          <a:p>
            <a:pPr lvl="1"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1. Entiende a tu audiencia y el contexto.</a:t>
            </a:r>
          </a:p>
          <a:p>
            <a:pPr lvl="1"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2. Elige la presentación visual más adecuada.</a:t>
            </a:r>
          </a:p>
          <a:p>
            <a:pPr lvl="1"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3. Elimina el desorden visual (Declutter).</a:t>
            </a:r>
          </a:p>
          <a:p>
            <a:pPr lvl="1"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4. Dirige la atención donde realmente importa.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500" b="1">
                <a:solidFill>
                  <a:srgbClr val="003865"/>
                </a:solidFill>
                <a:latin typeface="Century Gothic"/>
              </a:rPr>
              <a:t>Taller: Pair Programming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3200" b="1">
                <a:solidFill>
                  <a:srgbClr val="E85C0B"/>
                </a:solidFill>
                <a:latin typeface="Century Gothic"/>
              </a:defRPr>
            </a:pPr>
            <a:r>
              <a:t>Exploración de Casos de Éxito en Empresas Data-Driven</a:t>
            </a:r>
          </a:p>
          <a:p>
            <a:pPr lvl="1">
              <a:defRPr sz="2600" b="0">
                <a:solidFill>
                  <a:srgbClr val="003865"/>
                </a:solidFill>
                <a:latin typeface="Century Gothic"/>
              </a:defRPr>
            </a:pPr>
            <a:r>
              <a:t>1. Elijan una empresa (Netflix, Zara, Spotify, Amazon).</a:t>
            </a:r>
          </a:p>
          <a:p>
            <a:pPr lvl="1">
              <a:defRPr sz="2600" b="0">
                <a:solidFill>
                  <a:srgbClr val="003865"/>
                </a:solidFill>
                <a:latin typeface="Century Gothic"/>
              </a:defRPr>
            </a:pPr>
            <a:r>
              <a:t>2. Investiguen qué tipo de datos recolectan (estructurados vs no estructurados).</a:t>
            </a:r>
          </a:p>
          <a:p>
            <a:pPr lvl="1">
              <a:defRPr sz="2600" b="0">
                <a:solidFill>
                  <a:srgbClr val="003865"/>
                </a:solidFill>
                <a:latin typeface="Century Gothic"/>
              </a:defRPr>
            </a:pPr>
            <a:r>
              <a:t>3. Analicen cómo usan esos datos para tomar decisiones.</a:t>
            </a:r>
          </a:p>
          <a:p>
            <a:pPr lvl="1">
              <a:defRPr sz="2600" b="0">
                <a:solidFill>
                  <a:srgbClr val="003865"/>
                </a:solidFill>
                <a:latin typeface="Century Gothic"/>
              </a:defRPr>
            </a:pPr>
            <a:r>
              <a:t>4. Redacten un resumen en formato Markdown y súbanlo a GitHub.</a:t>
            </a:r>
          </a:p>
          <a:p>
            <a:pPr lvl="1">
              <a:defRPr sz="2600" b="1">
                <a:solidFill>
                  <a:srgbClr val="003865"/>
                </a:solidFill>
                <a:latin typeface="Century Gothic"/>
              </a:defRPr>
            </a:pPr>
            <a:r>
              <a:t>Usen LLMNotebook como asistente de investigación.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